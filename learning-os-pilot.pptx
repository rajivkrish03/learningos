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b62f3747-240b-2a53-a49e-953950a37ffd}">
          <p14:sldIdLst>
            <p14:sldId id="256"/>
          </p14:sldIdLst>
        </p14:section>
        <p14:section name="The Problem" id="{e54a122d-2726-03f8-57cf-64d227b0306e}">
          <p14:sldIdLst>
            <p14:sldId id="257"/>
            <p14:sldId id="258"/>
          </p14:sldIdLst>
        </p14:section>
        <p14:section name="The Product" id="{f9a16ab4-7db3-47f8-60df-750c6e40d46d}">
          <p14:sldIdLst>
            <p14:sldId id="259"/>
            <p14:sldId id="260"/>
            <p14:sldId id="261"/>
          </p14:sldIdLst>
        </p14:section>
        <p14:section name="The Study" id="{76764a32-515e-c2cb-68f9-02db87e50111}">
          <p14:sldIdLst>
            <p14:sldId id="262"/>
            <p14:sldId id="263"/>
            <p14:sldId id="264"/>
            <p14:sldId id="265"/>
            <p14:sldId id="266"/>
          </p14:sldIdLst>
        </p14:section>
        <p14:section name="Next Steps" id="{8909ad91-a326-7354-3ba2-8845b5eaf6e5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OS · Assisted Independence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5E9F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OS · Assisted Independence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BBBBBB"/>
                </a:solidFill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3A0C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OS · Assisted Independence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82880"/>
            <a:ext cx="914400" cy="914400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57200"/>
            <a:ext cx="548640" cy="54864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822960"/>
            <a:ext cx="365760" cy="365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100xEngineers · C7 Capstone</a:t>
            </a:r>
            <a:endParaRPr lang="en-US" sz="13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OS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9 learners will test whether withholding answers builds durable skill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tutors have a dirty secret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+48%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scores with AI assistant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72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−17%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peers who never used it, once removed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Bastani et al., PNAS 2025 · n ≈ 1,000 students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harm came from the interface, not the model.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 ran on the same GPT. What differed was what it did when asked."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PNAS 2025</a:t>
            </a:r>
            <a:endParaRPr lang="en-US" sz="1000" dirty="0"/>
          </a:p>
        </p:txBody>
      </p:sp>
      <p:sp>
        <p:nvSpPr>
          <p:cNvPr id="15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invisible harm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23444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2618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completed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gets the answer. Moves on. Feels productive.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23444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1960" y="12618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 satisfied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felt like learning. Confidence is high. No red flags.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1234440"/>
            <a:ext cx="731520" cy="73152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12618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not built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later. Same type of question. Blank screen. Can't start.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only shows up when the tool is taken away — and that test is the only honest measurement.</a:t>
            </a:r>
            <a:endParaRPr lang="en-US" sz="1300" dirty="0"/>
          </a:p>
        </p:txBody>
      </p:sp>
      <p:sp>
        <p:nvSpPr>
          <p:cNvPr id="19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two-tab app for Process Content in Data Cloud — built to build skill, not borrow 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surfaces, one bet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07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27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Freely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answer to any question — grounded in the 17 authored modules via RAG.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803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answering → author-curated "Related concepts" links into Tab B practice.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6576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head-on with the chatbot. Never withholds the learner's own question.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20700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207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627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from Path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1762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of the 17 modules. Work nodes in order — each unlocks the next.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8803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Predict-before-decide → help ladder → explain-back → independence meter.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6576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durable skill is built — or not.</a:t>
            </a:r>
            <a:endParaRPr lang="en-US" sz="1200" dirty="0"/>
          </a:p>
        </p:txBody>
      </p:sp>
      <p:sp>
        <p:nvSpPr>
          <p:cNvPr id="19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help ladder — the one lever that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rule: the LLM never decides whether to help. Plain code decides.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3852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385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836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decide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83664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slider + one-line reason — before any option appears. Forces retrieval before help can shortcut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8F5FF"/>
          </a:solidFill>
          <a:ln w="12700">
            <a:solidFill>
              <a:srgbClr val="E8F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5176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6517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5968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axis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596896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hinges on table fidelity." Names the dimension, not the answer.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6499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3649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3101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one out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31012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"Default parser flattens tables — rule it out and say why." Eliminates one wrong option with the reason.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7822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0782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0233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Walked reasoning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4023360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decision recipe. Asks the learner to state the final choice themselves — never hands it over.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= skip straight to Rung 3. Our bet: Rungs 0–2 produce retrieval the baseline skips.</a:t>
            </a:r>
            <a:endParaRPr lang="en-US" sz="1100" dirty="0"/>
          </a:p>
        </p:txBody>
      </p:sp>
      <p:sp>
        <p:nvSpPr>
          <p:cNvPr id="26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Study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learners · two arms · one question: does withholding build durable skill?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arms, one removal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0700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 ·  n =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Withholding (treatment)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76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Predict confidence + reason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877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MCQ — choose unaided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992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Help ladder (3 rungs if needed)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107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Explain-back after correct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20700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B  ·  n = 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(answer-giving)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176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MCQ — choose unaided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877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Correct answer shown immediately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9992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Explanation provided automatically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4107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 help ladder, no predict step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5E9F5"/>
          </a:solidFill>
          <a:ln w="12700">
            <a:solidFill>
              <a:srgbClr val="E5E9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2245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test: identical held-out questions, all tools off, plain static form — same for both arms.</a:t>
            </a:r>
            <a:endParaRPr lang="en-US" sz="1200" dirty="0"/>
          </a:p>
        </p:txBody>
      </p:sp>
      <p:sp>
        <p:nvSpPr>
          <p:cNvPr id="22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bank — Process Content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items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(shown with help)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2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items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(removal test only)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→ M11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A0C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per item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(keyed correct answer)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item (practice set)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21868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indexing equipment maintenance PDFs. Critical content is in multi-column spec tables and wiring diagrams. Retrieval must preserve table structure. Which parser?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Default parser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2552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LLM-based parser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02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C. Docling parser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Skip parsing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2245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to: M5 Parsing — Docling preserves tables as structured markdown. Key vetted by domain author.</a:t>
            </a:r>
            <a:endParaRPr lang="en-US" sz="1000" dirty="0"/>
          </a:p>
        </p:txBody>
      </p:sp>
      <p:sp>
        <p:nvSpPr>
          <p:cNvPr id="23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timeline — 3 weeks, 5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0" cy="192024"/>
          </a:xfrm>
          <a:prstGeom prst="line">
            <a:avLst/>
          </a:prstGeom>
          <a:noFill/>
          <a:ln w="25400">
            <a:solidFill>
              <a:srgbClr val="E5E9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216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1978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 &amp; split question bank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49047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vs. held-out. Held-out items locked — never shown with help.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11480" cy="4114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450592"/>
            <a:ext cx="0" cy="192024"/>
          </a:xfrm>
          <a:prstGeom prst="line">
            <a:avLst/>
          </a:prstGeom>
          <a:noFill/>
          <a:ln w="25400">
            <a:solidFill>
              <a:srgbClr val="E5E9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1947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 item difficulty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2402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2–3 people. Drop items with &lt;15% or &gt;85% unaided-correct rate. Avoid the pilot's ceiling failure.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200400"/>
            <a:ext cx="0" cy="192024"/>
          </a:xfrm>
          <a:prstGeom prst="line">
            <a:avLst/>
          </a:prstGeom>
          <a:noFill/>
          <a:ln w="25400">
            <a:solidFill>
              <a:srgbClr val="E5E9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26974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9 learners + practice sessions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29900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Arm A, 4 → Arm B. Alternating sign-up order. None from the team.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3950208"/>
            <a:ext cx="0" cy="192024"/>
          </a:xfrm>
          <a:prstGeom prst="line">
            <a:avLst/>
          </a:prstGeom>
          <a:noFill/>
          <a:ln w="25400">
            <a:solidFill>
              <a:srgbClr val="E5E9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465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74520" y="34472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 day gap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37398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contact. The gap is the only thing here that can't be compressed.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79392"/>
            <a:ext cx="411480" cy="4114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215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874520" y="419709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Removal test + analysis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874520" y="448970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off. Static form. Collect JSON exports. Score by keyed answer. Report the number we get.</a:t>
            </a:r>
            <a:endParaRPr lang="en-US" sz="1100" dirty="0"/>
          </a:p>
        </p:txBody>
      </p:sp>
      <p:sp>
        <p:nvSpPr>
          <p:cNvPr id="32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Pre-registered: what we'll measure and what each result means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outcome: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170432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Unaided-correct rate on held-out items — per person, per item, binary. Mean per arm.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87452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938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42316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87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mean &gt; Arm B, checks pass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487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hypothesis. Report direction + underpowered — no significance claim.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97180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35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mean &gt; Arm B, ceiling fails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0358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Uninterpretable — items too easy, no headroom. State this plainly.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352044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≈ Arm 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5844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result. "No detectable difference at this sample size." Do not soften.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406908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33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mean &lt; Arm B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4133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result. "Direction disfavours withholding." Do not soften.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2026-10-27. This file is append-locked — no retroactive adjustments.</a:t>
            </a:r>
            <a:endParaRPr lang="en-US" sz="1000" dirty="0"/>
          </a:p>
        </p:txBody>
      </p:sp>
      <p:sp>
        <p:nvSpPr>
          <p:cNvPr id="27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only the team can do — and the one the calendar controls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path to a submittable capstone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0759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075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the full question bank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8191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practice + ~12 held-out. Vet every key against your modules. Only the domain author can do this.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03704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3A0CA3"/>
          </a:solidFill>
          <a:ln w="12700">
            <a:solidFill>
              <a:srgbClr val="3A0C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03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1305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&amp; calibrate with 2–3 people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7802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items unaided. Drop floor/ceiling items. This prevents the fatal flaw of the peer pilot.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99816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998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02666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9 outside learners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37413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now. The 5–7 day gap is the only thing here that can't be compressed.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9592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995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92277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Code, study-mode flag, pre-registration, logs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27024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built. Arm A/B deploy configs ready. ANALYSIS-PLAN.md dated and locked. Logs started.</a:t>
            </a:r>
            <a:endParaRPr lang="en-US" sz="1100" dirty="0"/>
          </a:p>
        </p:txBody>
      </p:sp>
      <p:sp>
        <p:nvSpPr>
          <p:cNvPr id="23" name="Text 2"/>
          <p:cNvSpPr/>
          <p:nvPr>
            <p:ph idx="103" hasCustomPrompt="1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ingOS">
  <a:themeElements>
    <a:clrScheme name="LearningOS">
      <a:dk1>
        <a:srgbClr val="1A1A2E"/>
      </a:dk1>
      <a:lt1>
        <a:srgbClr val="FFFFFF"/>
      </a:lt1>
      <a:dk2>
        <a:srgbClr val="16213E"/>
      </a:dk2>
      <a:lt2>
        <a:srgbClr val="F0F4FF"/>
      </a:lt2>
      <a:accent1>
        <a:srgbClr val="4361EE"/>
      </a:accent1>
      <a:accent2>
        <a:srgbClr val="3A0CA3"/>
      </a:accent2>
      <a:accent3>
        <a:srgbClr val="4CC9F0"/>
      </a:accent3>
      <a:accent4>
        <a:srgbClr val="F72585"/>
      </a:accent4>
      <a:accent5>
        <a:srgbClr val="7209B7"/>
      </a:accent5>
      <a:accent6>
        <a:srgbClr val="06D6A0"/>
      </a:accent6>
      <a:hlink>
        <a:srgbClr val="4361EE"/>
      </a:hlink>
      <a:folHlink>
        <a:srgbClr val="3A0CA3"/>
      </a:folHlink>
    </a:clrScheme>
    <a:fontScheme name="LearningO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Pilot Study Presentation</dc:subject>
  <dc:creator>Learning OS</dc:creator>
  <cp:lastModifiedBy>Learning OS</cp:lastModifiedBy>
  <cp:revision>1</cp:revision>
  <dcterms:created xsi:type="dcterms:W3CDTF">2026-10-27T17:40:52Z</dcterms:created>
  <dcterms:modified xsi:type="dcterms:W3CDTF">2026-10-27T17:40:52Z</dcterms:modified>
</cp:coreProperties>
</file>